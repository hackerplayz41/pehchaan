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30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5F7FF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540068"/>
            <a:ext cx="660383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DIGITAL RISK PROTECTION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1182" y="918716"/>
            <a:ext cx="637524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b="1" spc="-34" kern="100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Catch </a:t>
            </a:r>
            <a:pPr algn="l" indent="0" marL="0">
              <a:lnSpc>
                <a:spcPct val="83000"/>
              </a:lnSpc>
              <a:buNone/>
            </a:pPr>
            <a:r>
              <a:rPr lang="en-US" sz="3400" b="1" spc="-34" kern="100" dirty="0">
                <a:solidFill>
                  <a:srgbClr val="2F7B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impersonation</a:t>
            </a:r>
            <a:endParaRPr lang="en-US" sz="3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3400" b="1" spc="-34" kern="100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before trust breaks.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1182" y="1966258"/>
            <a:ext cx="637524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 social and app-store impersonation before customers trust the wrong identity.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1182" y="2781201"/>
            <a:ext cx="1479513" cy="1286470"/>
          </a:xfrm>
          <a:prstGeom prst="roundRect">
            <a:avLst>
              <a:gd name="adj" fmla="val 888"/>
            </a:avLst>
          </a:prstGeom>
          <a:solidFill>
            <a:srgbClr val="F5F7FF"/>
          </a:solidFill>
          <a:ln w="19050">
            <a:solidFill>
              <a:srgbClr val="F5F7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30" y="2901851"/>
            <a:ext cx="457189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1030" y="3499068"/>
            <a:ext cx="133981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Prevent Identity Theft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43091" y="2781201"/>
            <a:ext cx="1479513" cy="1286470"/>
          </a:xfrm>
          <a:prstGeom prst="roundRect">
            <a:avLst>
              <a:gd name="adj" fmla="val 888"/>
            </a:avLst>
          </a:prstGeom>
          <a:solidFill>
            <a:srgbClr val="F5F7FF"/>
          </a:solidFill>
          <a:ln w="19050">
            <a:solidFill>
              <a:srgbClr val="F5F7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940" y="2901851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12940" y="3499068"/>
            <a:ext cx="1339816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 Your Data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975001" y="2781201"/>
            <a:ext cx="1479513" cy="1286470"/>
          </a:xfrm>
          <a:prstGeom prst="roundRect">
            <a:avLst>
              <a:gd name="adj" fmla="val 888"/>
            </a:avLst>
          </a:prstGeom>
          <a:solidFill>
            <a:srgbClr val="F5F7FF"/>
          </a:solidFill>
          <a:ln w="19050">
            <a:solidFill>
              <a:srgbClr val="F5F7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849" y="2901851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4849" y="3499068"/>
            <a:ext cx="140966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Trust 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606910" y="2781201"/>
            <a:ext cx="1479513" cy="1286470"/>
          </a:xfrm>
          <a:prstGeom prst="roundRect">
            <a:avLst>
              <a:gd name="adj" fmla="val 888"/>
            </a:avLst>
          </a:prstGeom>
          <a:solidFill>
            <a:srgbClr val="F5F7FF"/>
          </a:solidFill>
          <a:ln w="19050">
            <a:solidFill>
              <a:srgbClr val="F5F7F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758" y="2901851"/>
            <a:ext cx="457189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76758" y="3499068"/>
            <a:ext cx="140966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Safer Together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4506615"/>
            <a:ext cx="6286343" cy="15621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924602" y="6015057"/>
            <a:ext cx="426709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98500"/>
            <a:ext cx="10769331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56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copy looks right.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b="1" spc="-56" kern="100" dirty="0">
                <a:solidFill>
                  <a:srgbClr val="2F7B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trust is wrong.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11182" y="2391608"/>
            <a:ext cx="113789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false touchpoint can mislead customers, or damage brand trust , and delay response 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1182" y="3222030"/>
            <a:ext cx="10769331" cy="1284585"/>
          </a:xfrm>
          <a:prstGeom prst="roundRect">
            <a:avLst>
              <a:gd name="adj" fmla="val 890"/>
            </a:avLst>
          </a:prstGeom>
          <a:solidFill>
            <a:srgbClr val="E8F0FF"/>
          </a:solidFill>
          <a:ln w="6350">
            <a:solidFill>
              <a:srgbClr val="2F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24" y="3539847"/>
            <a:ext cx="104581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CUSTOMER RISK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2324" y="3906540"/>
            <a:ext cx="101470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Customers meet the fake brand touchpoints first.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11182" y="4963815"/>
            <a:ext cx="10769331" cy="1284585"/>
          </a:xfrm>
          <a:prstGeom prst="roundRect">
            <a:avLst>
              <a:gd name="adj" fmla="val 890"/>
            </a:avLst>
          </a:prstGeom>
          <a:solidFill>
            <a:srgbClr val="E8F0FF"/>
          </a:solidFill>
          <a:ln w="6350">
            <a:solidFill>
              <a:srgbClr val="2F7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324" y="5281632"/>
            <a:ext cx="1045818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RESPONSE WINDOW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2324" y="5648325"/>
            <a:ext cx="1014704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Delayed detection gives impersonators more time to act.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558800"/>
            <a:ext cx="888978" cy="735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82" y="1757462"/>
            <a:ext cx="10769331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44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From identity to evidence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11182" y="2475012"/>
            <a:ext cx="10769331" cy="68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5870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review path built for traceable decisions.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1182" y="3367782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1182" y="3687862"/>
            <a:ext cx="2349441" cy="19050"/>
          </a:xfrm>
          <a:prstGeom prst="rect">
            <a:avLst/>
          </a:prstGeom>
          <a:solidFill>
            <a:srgbClr val="2F7BFF"/>
          </a:solidFill>
          <a:ln/>
        </p:spPr>
      </p:sp>
      <p:sp>
        <p:nvSpPr>
          <p:cNvPr id="7" name="Text 4"/>
          <p:cNvSpPr/>
          <p:nvPr/>
        </p:nvSpPr>
        <p:spPr>
          <a:xfrm>
            <a:off x="711182" y="3875035"/>
            <a:ext cx="234944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Establish Brand Identity           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1182" y="4525705"/>
            <a:ext cx="234944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official brand names, domains and proflies.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517812" y="3367782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17812" y="3687862"/>
            <a:ext cx="2349441" cy="19050"/>
          </a:xfrm>
          <a:prstGeom prst="rect">
            <a:avLst/>
          </a:prstGeom>
          <a:solidFill>
            <a:srgbClr val="2F7BFF"/>
          </a:solidFill>
          <a:ln/>
        </p:spPr>
      </p:sp>
      <p:sp>
        <p:nvSpPr>
          <p:cNvPr id="11" name="Text 8"/>
          <p:cNvSpPr/>
          <p:nvPr/>
        </p:nvSpPr>
        <p:spPr>
          <a:xfrm>
            <a:off x="3517812" y="3875035"/>
            <a:ext cx="234944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Monitor Social Platforms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517812" y="4524752"/>
            <a:ext cx="234944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for suspicious accounts and impersonation.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24442" y="3367782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24442" y="3687862"/>
            <a:ext cx="2349441" cy="19050"/>
          </a:xfrm>
          <a:prstGeom prst="rect">
            <a:avLst/>
          </a:prstGeom>
          <a:solidFill>
            <a:srgbClr val="2F7BFF"/>
          </a:solidFill>
          <a:ln/>
        </p:spPr>
      </p:sp>
      <p:sp>
        <p:nvSpPr>
          <p:cNvPr id="15" name="Text 12"/>
          <p:cNvSpPr/>
          <p:nvPr/>
        </p:nvSpPr>
        <p:spPr>
          <a:xfrm>
            <a:off x="6324442" y="3875035"/>
            <a:ext cx="234944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Scan App Stores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24442" y="4271705"/>
            <a:ext cx="234944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potentially misleading apps.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31072" y="3367782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131072" y="3687862"/>
            <a:ext cx="2349441" cy="19050"/>
          </a:xfrm>
          <a:prstGeom prst="rect">
            <a:avLst/>
          </a:prstGeom>
          <a:solidFill>
            <a:srgbClr val="2F7BFF"/>
          </a:solidFill>
          <a:ln/>
        </p:spPr>
      </p:sp>
      <p:sp>
        <p:nvSpPr>
          <p:cNvPr id="19" name="Text 16"/>
          <p:cNvSpPr/>
          <p:nvPr/>
        </p:nvSpPr>
        <p:spPr>
          <a:xfrm>
            <a:off x="9131072" y="3875035"/>
            <a:ext cx="234944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Verify &amp; Prioritize Threats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31072" y="4524752"/>
            <a:ext cx="234944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evidence and rank suspicious findings.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1182" y="5999004"/>
            <a:ext cx="113789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                            </a:t>
            </a:r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highlight>
                  <a:srgbClr val="204C8E"/>
                </a:highlight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Every signal becomes reviewable evidence—not just an alert.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28650"/>
            <a:ext cx="655303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44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Every flag leaves a trail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861145"/>
            <a:ext cx="571486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1262" y="1892148"/>
            <a:ext cx="575295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Sources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511262" y="2288818"/>
            <a:ext cx="57529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Social pages, app listings.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82" y="2893616"/>
            <a:ext cx="571486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11262" y="2924618"/>
            <a:ext cx="575295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Signals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511262" y="3321288"/>
            <a:ext cx="57529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Identity, similarity, provenance.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3926086"/>
            <a:ext cx="571486" cy="571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11262" y="3957089"/>
            <a:ext cx="575295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Memory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511262" y="4353758"/>
            <a:ext cx="57529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Findings and review state.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" y="4958556"/>
            <a:ext cx="571486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11262" y="4989559"/>
            <a:ext cx="575295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First filter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511262" y="5386229"/>
            <a:ext cx="575295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Official assets are excluded first.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B1E3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28650"/>
            <a:ext cx="10769331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44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"Similarity starts the review—not the verdict"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11182" y="2641600"/>
            <a:ext cx="5156071" cy="1983085"/>
          </a:xfrm>
          <a:prstGeom prst="rect">
            <a:avLst/>
          </a:prstGeom>
          <a:solidFill>
            <a:srgbClr val="F44444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5975" y="2953068"/>
            <a:ext cx="485127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u="sng" spc="168" kern="100" dirty="0">
                <a:solidFill>
                  <a:srgbClr val="F44444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FLAGGED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15975" y="3319760"/>
            <a:ext cx="454648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Copied brand name</a:t>
            </a:r>
            <a:endParaRPr lang="en-US" sz="2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Copied logo or visual identity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324442" y="2641600"/>
            <a:ext cx="5156071" cy="1983085"/>
          </a:xfrm>
          <a:prstGeom prst="roundRect">
            <a:avLst>
              <a:gd name="adj" fmla="val 576"/>
            </a:avLst>
          </a:prstGeom>
          <a:solidFill>
            <a:srgbClr val="AEE4BD">
              <a:alpha val="25000"/>
            </a:srgbClr>
          </a:solidFill>
          <a:ln w="25399">
            <a:solidFill>
              <a:srgbClr val="C9CC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4634" y="2978468"/>
            <a:ext cx="482587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u="sng" spc="168" kern="100" dirty="0">
                <a:solidFill>
                  <a:srgbClr val="1F71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NOT FLAGGED/LOWER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54634" y="3345160"/>
            <a:ext cx="449568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Verified Official profile</a:t>
            </a:r>
            <a:endParaRPr lang="en-US" sz="2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Unrelated brand with no meaningful match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06390" y="5354578"/>
            <a:ext cx="113789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7325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'Similarities raises the signal. Evidence determines the response'.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09600"/>
            <a:ext cx="622284" cy="622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1864340"/>
            <a:ext cx="426709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 COMPARISON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09585" y="2278658"/>
            <a:ext cx="4267093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56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Same silhouette.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b="1" spc="-56" kern="100" dirty="0">
                <a:solidFill>
                  <a:srgbClr val="2F7B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Different signature.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609585" y="5271730"/>
            <a:ext cx="426709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 differences make resemblance reviewable evidence.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81371" y="1629073"/>
            <a:ext cx="6400739" cy="4479826"/>
          </a:xfrm>
          <a:prstGeom prst="roundRect">
            <a:avLst>
              <a:gd name="adj" fmla="val 8164"/>
            </a:avLst>
          </a:prstGeom>
          <a:solidFill>
            <a:srgbClr val="AFCBF8">
              <a:alpha val="30000"/>
            </a:srgbClr>
          </a:solidFill>
          <a:ln w="38099">
            <a:solidFill>
              <a:srgbClr val="102A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8064" y="1902440"/>
            <a:ext cx="613404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[SCREENSHOT]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48064" y="2269133"/>
            <a:ext cx="58673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Working app comparison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48064" y="2723158"/>
            <a:ext cx="2781230" cy="1447701"/>
          </a:xfrm>
          <a:prstGeom prst="rect">
            <a:avLst/>
          </a:prstGeom>
          <a:solidFill>
            <a:srgbClr val="AEE4BD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676659" y="2958425"/>
            <a:ext cx="255263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1F71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OFFICIAL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76659" y="3333690"/>
            <a:ext cx="232404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7325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Pehchaan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@pehchaan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34087" y="2723158"/>
            <a:ext cx="2781330" cy="1447701"/>
          </a:xfrm>
          <a:prstGeom prst="rect">
            <a:avLst/>
          </a:prstGeom>
          <a:solidFill>
            <a:srgbClr val="F44444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762682" y="2958425"/>
            <a:ext cx="255273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910D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SUSPECT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62682" y="3333690"/>
            <a:ext cx="232414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7325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Pehehaan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@pehchaan_official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48064" y="4754701"/>
            <a:ext cx="586735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 diff: copied mark, altered spelling, added handle suffix.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3250"/>
            <a:ext cx="10769331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44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Our fixtures make the claim testable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1182" y="1327468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870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performance on curated test sets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2490391"/>
          <a:ext cx="10756631" cy="914400"/>
        </p:xfrm>
        <a:graphic>
          <a:graphicData uri="http://schemas.openxmlformats.org/drawingml/2006/table">
            <a:tbl>
              <a:tblPr/>
              <a:tblGrid>
                <a:gridCol w="4948015"/>
                <a:gridCol w="2904259"/>
                <a:gridCol w="2904358"/>
              </a:tblGrid>
              <a:tr h="504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02A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Metric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02A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02A5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Fixture set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5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Precision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5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 validation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5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[FIXTURE COUNT]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5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Recall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5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 validation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325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[FIXTURE COUNT]</a:t>
                      </a:r>
                      <a:endParaRPr lang="en-US" sz="1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E8F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1182" y="4205684"/>
            <a:ext cx="10769331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6390" y="4898747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8709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Placeholders remain until the fixture run is verified.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102A56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685800"/>
            <a:ext cx="49782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48" kern="100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Protect the investigator, too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235200"/>
            <a:ext cx="4432189" cy="2956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390" y="5846802"/>
            <a:ext cx="558786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5F7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safely. Retain deliberately.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E8F0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609600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53036" y="1605803"/>
            <a:ext cx="49274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Minimise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553036" y="2002472"/>
            <a:ext cx="55370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DPDP-aligned minimisation.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36" y="2508845"/>
            <a:ext cx="228594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53036" y="3235768"/>
            <a:ext cx="49274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Guard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553036" y="3632438"/>
            <a:ext cx="55370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SSRF guards, CSP, rate limits.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4138811"/>
            <a:ext cx="228594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53036" y="4865734"/>
            <a:ext cx="492747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spc="-20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Retain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553036" y="5262404"/>
            <a:ext cx="55370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732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findings, not everything seen.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28650"/>
            <a:ext cx="10769331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44" kern="100" dirty="0">
                <a:solidFill>
                  <a:srgbClr val="102A5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     Good detection gets better in public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11182" y="2536230"/>
            <a:ext cx="10769331" cy="1627485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" name="Text 2"/>
          <p:cNvSpPr/>
          <p:nvPr/>
        </p:nvSpPr>
        <p:spPr>
          <a:xfrm>
            <a:off x="1193770" y="3025497"/>
            <a:ext cx="1028674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93770" y="3392190"/>
            <a:ext cx="98041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7325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Expand fixtures, tune thresholds, ship review actions.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1182" y="4620915"/>
            <a:ext cx="10769331" cy="1678285"/>
          </a:xfrm>
          <a:prstGeom prst="roundRect">
            <a:avLst>
              <a:gd name="adj" fmla="val 681"/>
            </a:avLst>
          </a:prstGeom>
          <a:noFill/>
          <a:ln w="25399">
            <a:solidFill>
              <a:srgbClr val="C9CC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170" y="5135582"/>
            <a:ext cx="10261343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spc="168" kern="100" dirty="0">
                <a:solidFill>
                  <a:srgbClr val="2F7B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LIMITS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170" y="5502275"/>
            <a:ext cx="975335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spc="-26" kern="100" dirty="0">
                <a:solidFill>
                  <a:srgbClr val="102A5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Coverage, fixture breadth, reviewer time.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812800"/>
            <a:ext cx="482588" cy="5113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82" y="1785172"/>
            <a:ext cx="10769331" cy="3965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0400" b="1" spc="-104" kern="100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When fakes appear, Pehchaan is here.</a:t>
            </a:r>
            <a:endParaRPr lang="en-US" sz="10400" dirty="0"/>
          </a:p>
        </p:txBody>
      </p:sp>
      <p:sp>
        <p:nvSpPr>
          <p:cNvPr id="4" name="Text 1"/>
          <p:cNvSpPr/>
          <p:nvPr/>
        </p:nvSpPr>
        <p:spPr>
          <a:xfrm>
            <a:off x="406390" y="5797471"/>
            <a:ext cx="11378915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9D9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Pehchaan · digital identity, made reviewable.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2026-10-09T16:12:48Z</dcterms:created>
  <dcterms:modified xsi:type="dcterms:W3CDTF">2026-10-09T16:12:48Z</dcterms:modified>
</cp:coreProperties>
</file>